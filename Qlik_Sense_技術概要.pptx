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1661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840480"/>
            <a:ext cx="2926080" cy="2926080"/>
          </a:xfrm>
          <a:prstGeom prst="ellipse">
            <a:avLst/>
          </a:prstGeom>
          <a:solidFill>
            <a:srgbClr val="1F8A5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16614A">
              <a:alpha val="35000"/>
            </a:srgbClr>
          </a:solidFill>
          <a:ln/>
        </p:spPr>
      </p:sp>
      <p:pic>
        <p:nvPicPr>
          <p:cNvPr id="5" name="Image 0" descr="icons/netwo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48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社内技術勉強会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Sense 技術概要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58368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連想エンジンとアーキテクチャを理解する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セルフサービスBI / アナリティクス入門編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本日のアジェンダ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Senseの全体像からアーキテクチャ、主要機能まで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6479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783080" y="17830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Senseとは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83080" y="222199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アナリティクスプラットフォームの位置づけ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76479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406640" y="17830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アーキテクチャ全体像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06640" y="222199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QIXエンジンを中心とした3階層サービス構成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4107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783080" y="34290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連想モデルの仕組み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83080" y="386791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従来のクエリ型BIとの違い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2461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34107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406640" y="34290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主要機能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06640" y="386791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Advisor, Qlik Predict, データ統合, セキュリティ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05663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783080" y="50749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デプロイ形態とライセンス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83080" y="551383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Cloud / オンプレミスの選択肢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505663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406640" y="50749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06640" y="551383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Senseを選ぶ理由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 技術概要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Senseとは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連想エンジンを核としたセルフサービスBIプラットフォーム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年創業のQlik社が提供するBI・アナリティクスプラットフォーム。インメモリの「連想エンジン（QIXエンジン）」により、ユーザーが自由にデータ間を行き来しながら探索できる、従来のクエリ型BIとは異なる体験を提供す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953512"/>
            <a:ext cx="109728" cy="109728"/>
          </a:xfrm>
          <a:prstGeom prst="ellipse">
            <a:avLst/>
          </a:prstGeom>
          <a:solidFill>
            <a:srgbClr val="2FBF8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072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ドラッグ＆ドロップで直感的にダッシュボードを作成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410712"/>
            <a:ext cx="109728" cy="109728"/>
          </a:xfrm>
          <a:prstGeom prst="ellipse">
            <a:avLst/>
          </a:prstGeom>
          <a:solidFill>
            <a:srgbClr val="2FBF8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644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クリックした項目に関連するデータを自動でハイライト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67912"/>
            <a:ext cx="109728" cy="109728"/>
          </a:xfrm>
          <a:prstGeom prst="ellipse">
            <a:avLst/>
          </a:prstGeom>
          <a:solidFill>
            <a:srgbClr val="2FBF8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21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Cloud（SaaS）とオンプレミス両方に対応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25112"/>
            <a:ext cx="109728" cy="109728"/>
          </a:xfrm>
          <a:prstGeom prst="ellipse">
            <a:avLst/>
          </a:prstGeom>
          <a:solidFill>
            <a:srgbClr val="2FBF8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178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Talend買収によりデータ統合機能も統合済み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150876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0B3D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B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49440" y="22219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創業年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418320" y="167335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BI市場のパイオニア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として展開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75120" y="306324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0B3D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3200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B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49440" y="37764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RAMで保持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（圧縮率の目安）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418320" y="322783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列指向インメモリ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圧縮で高速処理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75120" y="461772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0B3D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0" y="4754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B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49440" y="53309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主要デプロイ形態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418320" y="478231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Cloud（SaaS）/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オンプレミス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 技術概要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アーキテクチャ全体像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QIXエンジンを中核とした主要サービス構成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0B3D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cons/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345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8928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Proxy / Repository 層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920240" y="23500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認証・セッション管理・アプリ管理とアクセス制御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324612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1661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58902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0240" y="344728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QIX エンジン（連想エンジン）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920240" y="390448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インメモリでデータをロードし、連想計算・可視化を実行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22960" y="480060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1F8A5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1435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20240" y="50017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データソース層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920240" y="54589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RDB・クラウド・ファイル等、多様なソースに接続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897880" y="292150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897880" y="447598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 技術概要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QIXエンジン（連想エンジン）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Senseの心臓部となる分析処理基盤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1F8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SERVICE</a:t>
            </a:r>
            <a:endParaRPr lang="en-US" sz="1100" dirty="0"/>
          </a:p>
        </p:txBody>
      </p:sp>
      <p:pic>
        <p:nvPicPr>
          <p:cNvPr id="6" name="Image 0" descr="icons/brain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965960"/>
            <a:ext cx="237744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965960"/>
            <a:ext cx="7772400" cy="777240"/>
          </a:xfrm>
          <a:prstGeom prst="roundRect">
            <a:avLst>
              <a:gd name="adj" fmla="val 8235"/>
            </a:avLst>
          </a:prstGeom>
          <a:solidFill>
            <a:srgbClr val="F3FAF6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9659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データをRAM上に列指向・圧縮形式で保持し、ユニークな値は一度だけ格納（高圧縮率）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7772400" cy="777240"/>
          </a:xfrm>
          <a:prstGeom prst="roundRect">
            <a:avLst>
              <a:gd name="adj" fmla="val 8235"/>
            </a:avLst>
          </a:prstGeom>
          <a:solidFill>
            <a:srgbClr val="F3FAF6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「シンボルテーブル」と「データテーブル」でフィールド間の関連性をポインタとして管理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7772400" cy="777240"/>
          </a:xfrm>
          <a:prstGeom prst="roundRect">
            <a:avLst>
              <a:gd name="adj" fmla="val 8235"/>
            </a:avLst>
          </a:prstGeom>
          <a:solidFill>
            <a:srgbClr val="F3FAF6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7947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ユーザーの選択操作に応じて、関連データをリアルタイムに再計算（論理推論エンジン）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709160"/>
            <a:ext cx="7772400" cy="777240"/>
          </a:xfrm>
          <a:prstGeom prst="roundRect">
            <a:avLst>
              <a:gd name="adj" fmla="val 8235"/>
            </a:avLst>
          </a:prstGeom>
          <a:solidFill>
            <a:srgbClr val="F3FAF6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7091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64bitマルチスレッドで動作し、CPUコア数に応じて線形にスケール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 技術概要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連想モデル（Associative Model）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従来のクエリ型BIとの決定的な違い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2743200" cy="320040"/>
          </a:xfrm>
          <a:prstGeom prst="roundRect">
            <a:avLst>
              <a:gd name="adj" fmla="val 48571"/>
            </a:avLst>
          </a:prstGeom>
          <a:solidFill>
            <a:srgbClr val="1661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ASSOCIATIVE 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従来のクエリ型BIはあらかじめ定義された「ドリルダウン経路」に沿ってしかデータを探索できない。Qlik Senseの連想モデルは、全フィールド間の関連性を常に保持し、ユーザーがどの項目をクリックしても自由に探索できる。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28416"/>
            <a:ext cx="201168" cy="201168"/>
          </a:xfrm>
          <a:prstGeom prst="ellipse">
            <a:avLst/>
          </a:prstGeom>
          <a:solidFill>
            <a:srgbClr val="2FBF87"/>
          </a:solidFill>
          <a:ln w="12700">
            <a:solidFill>
              <a:srgbClr val="DCEF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18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緑（選択中）：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現在選択しているデータ項目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31336"/>
            <a:ext cx="201168" cy="20116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DCEF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21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白（関連あり）：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選択と関連性を持つデータ項目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201168" cy="201168"/>
          </a:xfrm>
          <a:prstGeom prst="ellipse">
            <a:avLst/>
          </a:prstGeom>
          <a:solidFill>
            <a:srgbClr val="B0B8C1"/>
          </a:solidFill>
          <a:ln w="12700">
            <a:solidFill>
              <a:srgbClr val="DCEF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224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グレー（関連なし）：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選択と関連性がないデータ項目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この「緑・白・グレー」の視覚的フィードバックにより、データの盲点（見落とし）にも気づきやすくなる。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49640" y="3154680"/>
            <a:ext cx="1005840" cy="1005840"/>
          </a:xfrm>
          <a:prstGeom prst="ellipse">
            <a:avLst/>
          </a:prstGeom>
          <a:solidFill>
            <a:srgbClr val="2FBF87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3474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選択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2468880"/>
            <a:ext cx="2011680" cy="1188720"/>
          </a:xfrm>
          <a:prstGeom prst="line">
            <a:avLst/>
          </a:prstGeom>
          <a:noFill/>
          <a:ln w="19050">
            <a:solidFill>
              <a:srgbClr val="DCEF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2468880"/>
            <a:ext cx="2011680" cy="1188720"/>
          </a:xfrm>
          <a:prstGeom prst="line">
            <a:avLst/>
          </a:prstGeom>
          <a:noFill/>
          <a:ln w="19050">
            <a:solidFill>
              <a:srgbClr val="DCEF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3657600"/>
            <a:ext cx="2377440" cy="822960"/>
          </a:xfrm>
          <a:prstGeom prst="line">
            <a:avLst/>
          </a:prstGeom>
          <a:noFill/>
          <a:ln w="19050">
            <a:solidFill>
              <a:srgbClr val="DCEF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3657600"/>
            <a:ext cx="2377440" cy="822960"/>
          </a:xfrm>
          <a:prstGeom prst="line">
            <a:avLst/>
          </a:prstGeom>
          <a:noFill/>
          <a:ln w="19050">
            <a:solidFill>
              <a:srgbClr val="DCEF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3657600"/>
            <a:ext cx="0" cy="1828800"/>
          </a:xfrm>
          <a:prstGeom prst="line">
            <a:avLst/>
          </a:prstGeom>
          <a:noFill/>
          <a:ln w="19050">
            <a:solidFill>
              <a:srgbClr val="DCEF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2103120"/>
            <a:ext cx="731520" cy="731520"/>
          </a:xfrm>
          <a:prstGeom prst="ellipse">
            <a:avLst/>
          </a:prstGeom>
          <a:solidFill>
            <a:srgbClr val="C5CCD3"/>
          </a:solidFill>
          <a:ln w="19050">
            <a:solidFill>
              <a:srgbClr val="1661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98480" y="210312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61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4114800"/>
            <a:ext cx="731520" cy="731520"/>
          </a:xfrm>
          <a:prstGeom prst="ellipse">
            <a:avLst/>
          </a:prstGeom>
          <a:solidFill>
            <a:srgbClr val="C5CCD3"/>
          </a:solidFill>
          <a:ln w="19050">
            <a:solidFill>
              <a:srgbClr val="1661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64240" y="41148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61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0" y="5120640"/>
            <a:ext cx="731520" cy="731520"/>
          </a:xfrm>
          <a:prstGeom prst="ellipse">
            <a:avLst/>
          </a:prstGeom>
          <a:solidFill>
            <a:srgbClr val="C5CCD3"/>
          </a:solidFill>
          <a:ln w="19050">
            <a:solidFill>
              <a:srgbClr val="1661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 技術概要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主要機能① AIによる分析支援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自然言語と機械学習でインサイト発見を加速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6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219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5740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Advisor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10896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自然言語での質問入力や検索ベースの操作から、AIが自動でグラフ・分析を提案。データ準備やダッシュボード作成も支援する。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5029200"/>
            <a:ext cx="4526280" cy="9144"/>
          </a:xfrm>
          <a:prstGeom prst="rect">
            <a:avLst/>
          </a:prstGeom>
          <a:solidFill>
            <a:srgbClr val="DCEFE5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1663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用途：非エンジニアによるセルフサービス分析、会話的なデータ探索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8076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2011680"/>
            <a:ext cx="777240" cy="77724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13" name="Image 1" descr="icons/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22199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05740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Predict（旧 Qlik AutoML）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446520" y="310896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主要因分析・自動予測・What-ifシナリオを、コーディングなしで実行できる機械学習機能。連想モデルのデータと直接連携する。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46520" y="5029200"/>
            <a:ext cx="4526280" cy="9144"/>
          </a:xfrm>
          <a:prstGeom prst="rect">
            <a:avLst/>
          </a:prstGeom>
          <a:solidFill>
            <a:srgbClr val="DCEFE5"/>
          </a:solidFill>
          <a:ln/>
        </p:spPr>
      </p:sp>
      <p:sp>
        <p:nvSpPr>
          <p:cNvPr id="17" name="Text 13"/>
          <p:cNvSpPr/>
          <p:nvPr/>
        </p:nvSpPr>
        <p:spPr>
          <a:xfrm>
            <a:off x="6446520" y="51663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用途：需要予測、解約予測、主要因（キードライバー）分析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 技術概要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主要機能② データ接続と統合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幅広いソースからリアルタイムにデータを取り込む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2468880" cy="320040"/>
          </a:xfrm>
          <a:prstGeom prst="roundRect">
            <a:avLst>
              <a:gd name="adj" fmla="val 48571"/>
            </a:avLst>
          </a:prstGeom>
          <a:solidFill>
            <a:srgbClr val="1661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31620" y="2331720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8" name="Image 0" descr="icons/plu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924" y="247802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豊富なコネクタ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3232" y="35204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Server, Oracle, AWS, Azure, Excel, CSV等、数百のデータソースに対応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83280" y="20574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6260" y="2331720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3" name="Image 1" descr="icons/syn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564" y="247802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Talend連携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47872" y="35204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買収統合により、ETL・データ品質管理もワンベンダーで実現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17920" y="20574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00900" y="2331720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8" name="Image 2" descr="icons/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204" y="247802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ライブ接続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382512" y="35204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一部データをメモリ外に残し、必要時にソースから直接リアルタイム取得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9052560" y="20574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35540" y="2331720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3" name="Image 3" descr="icons/lay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1844" y="2478024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89720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QVDアーキテクチャ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217152" y="352044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中間データを独自の高速圧縮形式（QVD）でキャッシュし再利用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548640" y="4434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Talend Data Integrationにより、クラウド・オンプレミス問わず統合的なデータパイプラインを構築できる。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 技術概要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主要機能③ 共有とアプリ拡張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分析をチーム・社外に届け、独自機能で拡張する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2468880" cy="320040"/>
          </a:xfrm>
          <a:prstGeom prst="roundRect">
            <a:avLst>
              <a:gd name="adj" fmla="val 48571"/>
            </a:avLst>
          </a:prstGeom>
          <a:solidFill>
            <a:srgbClr val="1661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B3D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3317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971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Senseアプリ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（QVFファイル）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91840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114800" y="21031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F8A5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cons/shar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220" y="23317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0" y="2971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管理スペース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ハブで共有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858000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7680960" y="21031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661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0" y="233172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80960" y="2971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利用者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埋め込み先アプリ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48640" y="40233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APIやQIX Engine APIにより、ダッシュボードを外部Webアプリへ埋め込みや、カスタム可視化の追加が可能。WebSocketベースのJSON-RPCプロトコルでエンジンと通信する。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84632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F3FAF6"/>
          </a:solidFill>
          <a:ln/>
        </p:spPr>
      </p:sp>
      <p:pic>
        <p:nvPicPr>
          <p:cNvPr id="19" name="Image 3" descr="icons/code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07492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84632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拡張性：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Analytics Platformによるカスタム分析アプリ構築、enigma.jsライブラリでのエンジン直接操作にも対応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 技術概要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デプロイ形態とライセンス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用途に応じて選べる2つの提供形態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16614A"/>
          </a:solidFill>
          <a:ln/>
        </p:spPr>
      </p:sp>
      <p:pic>
        <p:nvPicPr>
          <p:cNvPr id="6" name="Image 0" descr="icons/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219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659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Cloud（SaaS）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828800" y="24688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クラウドファーストの標準提供形態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400" y="3227832"/>
            <a:ext cx="109728" cy="109728"/>
          </a:xfrm>
          <a:prstGeom prst="ellipse">
            <a:avLst/>
          </a:prstGeom>
          <a:solidFill>
            <a:srgbClr val="16614A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30815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AWS上でQlikが運用するフルマネージドSaaS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4005072"/>
            <a:ext cx="109728" cy="109728"/>
          </a:xfrm>
          <a:prstGeom prst="ellipse">
            <a:avLst/>
          </a:prstGeom>
          <a:solidFill>
            <a:srgbClr val="16614A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385876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Answers, Qlik Predict等のAI機能を統合提供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4782312"/>
            <a:ext cx="109728" cy="109728"/>
          </a:xfrm>
          <a:prstGeom prst="ellipse">
            <a:avLst/>
          </a:prstGeom>
          <a:solidFill>
            <a:srgbClr val="16614A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463600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迅速な導入とアップデートの自動適用が可能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8076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0" y="2011680"/>
            <a:ext cx="777240" cy="777240"/>
          </a:xfrm>
          <a:prstGeom prst="ellipse">
            <a:avLst/>
          </a:prstGeom>
          <a:solidFill>
            <a:srgbClr val="16614A"/>
          </a:solidFill>
          <a:ln/>
        </p:spPr>
      </p:sp>
      <p:pic>
        <p:nvPicPr>
          <p:cNvPr id="17" name="Image 1" descr="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22199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60920" y="19659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Qlik Sense Enterprise on Windows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7360920" y="24688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規制業界向けのオンプレミス選択肢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446520" y="3227832"/>
            <a:ext cx="109728" cy="109728"/>
          </a:xfrm>
          <a:prstGeom prst="ellipse">
            <a:avLst/>
          </a:prstGeom>
          <a:solidFill>
            <a:srgbClr val="16614A"/>
          </a:solidFill>
          <a:ln/>
        </p:spPr>
      </p:sp>
      <p:sp>
        <p:nvSpPr>
          <p:cNvPr id="21" name="Text 17"/>
          <p:cNvSpPr/>
          <p:nvPr/>
        </p:nvSpPr>
        <p:spPr>
          <a:xfrm>
            <a:off x="6720840" y="30815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/ Engine / Repository等のサービスを自社管理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46520" y="4005072"/>
            <a:ext cx="109728" cy="109728"/>
          </a:xfrm>
          <a:prstGeom prst="ellipse">
            <a:avLst/>
          </a:prstGeom>
          <a:solidFill>
            <a:srgbClr val="16614A"/>
          </a:solidFill>
          <a:ln/>
        </p:spPr>
      </p:sp>
      <p:sp>
        <p:nvSpPr>
          <p:cNvPr id="23" name="Text 19"/>
          <p:cNvSpPr/>
          <p:nvPr/>
        </p:nvSpPr>
        <p:spPr>
          <a:xfrm>
            <a:off x="6720840" y="385876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データを社外に出せない規制業界・要件に対応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46520" y="4782312"/>
            <a:ext cx="109728" cy="109728"/>
          </a:xfrm>
          <a:prstGeom prst="ellipse">
            <a:avLst/>
          </a:prstGeom>
          <a:solidFill>
            <a:srgbClr val="16614A"/>
          </a:solidFill>
          <a:ln/>
        </p:spPr>
      </p:sp>
      <p:sp>
        <p:nvSpPr>
          <p:cNvPr id="25" name="Text 21"/>
          <p:cNvSpPr/>
          <p:nvPr/>
        </p:nvSpPr>
        <p:spPr>
          <a:xfrm>
            <a:off x="6720840" y="463600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マルチノード構成でEngineを横展開しスケール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 技術概要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他のBIツールとの違い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クエリ型BIに対する連想モデルの強み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16614A"/>
          </a:solidFill>
          <a:ln/>
        </p:spPr>
      </p:sp>
      <p:pic>
        <p:nvPicPr>
          <p:cNvPr id="6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15798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探索の自由度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227832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事前定義されたドリルダウン経路に縛られず、どの項目からでもデータ間を自由に行き来できる。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4709160"/>
            <a:ext cx="3063240" cy="9144"/>
          </a:xfrm>
          <a:prstGeom prst="rect">
            <a:avLst/>
          </a:prstGeom>
          <a:solidFill>
            <a:srgbClr val="DCEFE5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48188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66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ポイント：探索的な分析・仮説検証に強み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70248" y="169164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4568" y="1965960"/>
            <a:ext cx="640080" cy="64008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13" name="Image 1" descr="icons/memor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15798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98848" y="2743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インメモリ高速処理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498848" y="3227832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列指向の圧縮インメモリ方式により、数億行規模でも1秒未満で応答するケースが多い。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498848" y="4709160"/>
            <a:ext cx="3063240" cy="9144"/>
          </a:xfrm>
          <a:prstGeom prst="rect">
            <a:avLst/>
          </a:prstGeom>
          <a:solidFill>
            <a:srgbClr val="DCEFE5"/>
          </a:solidFill>
          <a:ln/>
        </p:spPr>
      </p:sp>
      <p:sp>
        <p:nvSpPr>
          <p:cNvPr id="17" name="Text 13"/>
          <p:cNvSpPr/>
          <p:nvPr/>
        </p:nvSpPr>
        <p:spPr>
          <a:xfrm>
            <a:off x="4498848" y="48188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ポイント：大量データ・サーバメモリ容量の設計が重要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991856" y="169164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3FA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66176" y="1965960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0" name="Image 2" descr="icons/syn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157984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0456" y="2743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統合データ基盤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220456" y="3227832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Talend統合によりETL・データ品質・カタログ管理までワンベンダーでカバーできる。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220456" y="4709160"/>
            <a:ext cx="3063240" cy="9144"/>
          </a:xfrm>
          <a:prstGeom prst="rect">
            <a:avLst/>
          </a:prstGeom>
          <a:solidFill>
            <a:srgbClr val="DCEFE5"/>
          </a:solidFill>
          <a:ln/>
        </p:spPr>
      </p:sp>
      <p:sp>
        <p:nvSpPr>
          <p:cNvPr id="24" name="Text 19"/>
          <p:cNvSpPr/>
          <p:nvPr/>
        </p:nvSpPr>
        <p:spPr>
          <a:xfrm>
            <a:off x="8220456" y="48188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ポイント：分析と統合基盤を別ベンダーにしたくない場合に有利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4864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Power BI / Tableau等との詳細な機能・価格比較は別資料（比較検討資料）にて整理予定。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 技術概要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6614A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114800"/>
            <a:ext cx="3657600" cy="3657600"/>
          </a:xfrm>
          <a:prstGeom prst="ellipse">
            <a:avLst/>
          </a:prstGeom>
          <a:solidFill>
            <a:srgbClr val="1F8A5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Senseが選ばれる理由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F8A5F"/>
            </a:solidFill>
            <a:prstDash val="solid"/>
          </a:ln>
        </p:spPr>
      </p:sp>
      <p:pic>
        <p:nvPicPr>
          <p:cNvPr id="7" name="Image 0" descr="icon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47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自由な探索体験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23500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連想モデルによりドリルダウン経路に縛られないデータ探索が可能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178308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F8A5F"/>
            </a:solidFill>
            <a:prstDash val="solid"/>
          </a:ln>
        </p:spPr>
      </p:sp>
      <p:pic>
        <p:nvPicPr>
          <p:cNvPr id="11" name="Image 1" descr="icon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488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947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高速なインメモリ処理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40880" y="23500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圧縮インメモリ方式で大量データも高い応答性を維持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47472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F8A5F"/>
            </a:solidFill>
            <a:prstDash val="solid"/>
          </a:ln>
        </p:spPr>
      </p:sp>
      <p:pic>
        <p:nvPicPr>
          <p:cNvPr id="15" name="Image 2" descr="icons/syn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404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6393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統合データ基盤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600200" y="404164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Talend統合によりETLからBIまでワンベンダーで一貫対応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080760" y="347472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F8A5F"/>
            </a:solidFill>
            <a:prstDash val="solid"/>
          </a:ln>
        </p:spPr>
      </p:sp>
      <p:pic>
        <p:nvPicPr>
          <p:cNvPr id="19" name="Image 3" descr="icons/robo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84048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40880" y="36393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B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AIによる分析支援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040880" y="404164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AdvisorとQlik Predictで非エンジニアの分析も加速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 技術概要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参考情報 / Q&amp;A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より詳しく学ぶために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863840" cy="685800"/>
          </a:xfrm>
          <a:prstGeom prst="roundRect">
            <a:avLst>
              <a:gd name="adj" fmla="val 8000"/>
            </a:avLst>
          </a:prstGeom>
          <a:solidFill>
            <a:srgbClr val="F3FA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Qlik公式ドキュメント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1691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help.qlik.com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7863840" cy="685800"/>
          </a:xfrm>
          <a:prstGeom prst="roundRect">
            <a:avLst>
              <a:gd name="adj" fmla="val 8000"/>
            </a:avLst>
          </a:prstGeom>
          <a:solidFill>
            <a:srgbClr val="F3FAF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60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Qlik公式サイト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560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www.qlik.com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7863840" cy="685800"/>
          </a:xfrm>
          <a:prstGeom prst="roundRect">
            <a:avLst>
              <a:gd name="adj" fmla="val 8000"/>
            </a:avLst>
          </a:prstGeom>
          <a:solidFill>
            <a:srgbClr val="F3FA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29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Developer Portal（API）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429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qlik.dev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7863840" cy="685800"/>
          </a:xfrm>
          <a:prstGeom prst="roundRect">
            <a:avLst>
              <a:gd name="adj" fmla="val 8000"/>
            </a:avLst>
          </a:prstGeom>
          <a:solidFill>
            <a:srgbClr val="F3FAF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97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Community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4297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community.qlik.com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0" y="1691640"/>
            <a:ext cx="2926080" cy="3291840"/>
          </a:xfrm>
          <a:prstGeom prst="roundRect">
            <a:avLst>
              <a:gd name="adj" fmla="val 3125"/>
            </a:avLst>
          </a:prstGeom>
          <a:solidFill>
            <a:srgbClr val="0B3D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0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ご質問・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ディスカッション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69680" y="2011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BF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ご清聴ありがとうございました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Sense 技術概要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Qlik Sense 技術概要</dc:title>
  <dc:subject>PptxGenJS Presentation</dc:subject>
  <dc:creator>Internal Tech Study Session</dc:creator>
  <cp:lastModifiedBy>Internal Tech Study Session</cp:lastModifiedBy>
  <cp:revision>1</cp:revision>
  <dcterms:created xsi:type="dcterms:W3CDTF">2026-06-20T19:56:04Z</dcterms:created>
  <dcterms:modified xsi:type="dcterms:W3CDTF">2026-06-20T19:56:04Z</dcterms:modified>
</cp:coreProperties>
</file>