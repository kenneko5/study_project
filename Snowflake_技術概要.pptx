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84048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572000"/>
            <a:ext cx="3657600" cy="36576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pic>
        <p:nvPicPr>
          <p:cNvPr id="5" name="Image 0" descr="icons/snowflak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社内技術勉強会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 技術概要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58368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アーキテクチャと主要機能を理解する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クラウドデータプラットフォーム入門編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本日のアジェンダ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Snowflakeの全体像からアーキテクチャ、主要機能まで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783080" y="1783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Snowflakeとは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2219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クラウドデータプラットフォームの位置づけ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7647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06640" y="17830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3層アーキテクチャ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222199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Compute / Cloud Servicesの分離設計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4107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783080" y="3429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各レイヤーの詳細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83080" y="3867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ストレージ、仮想ウェアハウス、クラウドサービス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4107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06640" y="34290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06640" y="3867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Cloning, Time Travel, データ共有, Cortex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0566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83080" y="5074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料金の考え方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55138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従量課金モデルの基本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50566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5074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06640" y="551383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Snowflakeを選ぶ理由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Snowflakeとは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クラウドネイティブなAIデータプラットフォーム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AWS・Azure・Google Cloud上で動作する、フルマネージドのクラウドデータプラットフォーム。2012年に創業し、「ストレージとコンピュートの分離」という革新的な設計でデータウェアハウス市場に参入した。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62072"/>
            <a:ext cx="109728" cy="109728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15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サーバーやインフラの管理が不要（フルマネージド）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19272"/>
            <a:ext cx="109728" cy="109728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72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ストレージ・コンピュートを独立してスケール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301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従量課金（使った分だけ課金）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29ADB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873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近年はAI・GenAI機能（Cortex AI）を統合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150876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つのコア層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0" y="167335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Compute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75120" y="306324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49440" y="3200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9440" y="3776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創業年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322783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クラウド専業として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461772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4754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5330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大クラウド対応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0" y="4782312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3層アーキテクチャ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Storage・Compute・Cloud Servicesを完全に分離した設計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clou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345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928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Services 層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920240" y="23500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クエリ最適化・認証・メタデータ管理・セキュリティ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5890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344728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層（仮想ウェアハウス）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920240" y="390448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クエリ実行・データ変換を行うMPPクラスタ群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14350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50017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層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920240" y="54589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列指向・マイクロパーティション形式でクラウドストレージに格納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97880" y="292150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97880" y="4475988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データを最適な形式で自動的に格納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103120" cy="320040"/>
          </a:xfrm>
          <a:prstGeom prst="roundRect">
            <a:avLst>
              <a:gd name="adj" fmla="val 48571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100" dirty="0"/>
          </a:p>
        </p:txBody>
      </p:sp>
      <p:pic>
        <p:nvPicPr>
          <p:cNvPr id="6" name="Image 0" descr="icons/databa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965960"/>
            <a:ext cx="237744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965960"/>
            <a:ext cx="5486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9659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4F9F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659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Azure Blob / Google Cloud Storage 上に、構造化・半構造化データを一元的に保存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5486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8803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4F9F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880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ロード時に自動で列指向・圧縮形式の「マイクロパーティション」（約16MB）に再編成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5486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37947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4F9FC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7947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ファイルは不変（immutable）。更新・削除は新パーティションの作成として処理される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709160"/>
            <a:ext cx="5486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" y="4709160"/>
            <a:ext cx="7772400" cy="777240"/>
          </a:xfrm>
          <a:prstGeom prst="roundRect">
            <a:avLst>
              <a:gd name="adj" fmla="val 8235"/>
            </a:avLst>
          </a:prstGeom>
          <a:solidFill>
            <a:srgbClr val="F4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7091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ユーザーはファイルや物理配置を直接意識する必要がない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層（仮想ウェアハウス）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独立してスケールするクエリ実行エンジン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103120" cy="320040"/>
          </a:xfrm>
          <a:prstGeom prst="roundRect">
            <a:avLst>
              <a:gd name="adj" fmla="val 4857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仮想ウェアハウスは、クエリ処理・DML操作・データ変換を実行するMPP（超並列処理）クラスタ。ストレージとは独立しており、必要なときだけ起動し、使わないときは自動停止できる。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6382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自動スケール：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サイズ（XS〜6XL）を即座に変更可能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62102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マルチクラスタ：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同時実行数に応じてクラスタを自動増減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秒単位課金：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起動中のみ課金、自動停止でコスト最適化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53542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ワークロード分離：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他クエリの影響を受けない専有リソース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4389120"/>
            <a:ext cx="685800" cy="457200"/>
          </a:xfrm>
          <a:prstGeom prst="roundRect">
            <a:avLst>
              <a:gd name="adj" fmla="val 10000"/>
            </a:avLst>
          </a:prstGeom>
          <a:solidFill>
            <a:srgbClr val="065A82">
              <a:alpha val="5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4892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99832" y="4069080"/>
            <a:ext cx="685800" cy="777240"/>
          </a:xfrm>
          <a:prstGeom prst="roundRect">
            <a:avLst>
              <a:gd name="adj" fmla="val 6667"/>
            </a:avLst>
          </a:prstGeom>
          <a:solidFill>
            <a:srgbClr val="065A82">
              <a:alpha val="6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99832" y="4892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50224" y="3749040"/>
            <a:ext cx="685800" cy="1097280"/>
          </a:xfrm>
          <a:prstGeom prst="roundRect">
            <a:avLst>
              <a:gd name="adj" fmla="val 6667"/>
            </a:avLst>
          </a:prstGeom>
          <a:solidFill>
            <a:srgbClr val="065A82">
              <a:alpha val="7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650224" y="4892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0616" y="3429000"/>
            <a:ext cx="685800" cy="1417320"/>
          </a:xfrm>
          <a:prstGeom prst="roundRect">
            <a:avLst>
              <a:gd name="adj" fmla="val 6667"/>
            </a:avLst>
          </a:prstGeom>
          <a:solidFill>
            <a:srgbClr val="065A82">
              <a:alpha val="8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500616" y="4892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51008" y="3108960"/>
            <a:ext cx="685800" cy="1737360"/>
          </a:xfrm>
          <a:prstGeom prst="roundRect">
            <a:avLst>
              <a:gd name="adj" fmla="val 6667"/>
            </a:avLst>
          </a:prstGeom>
          <a:solidFill>
            <a:srgbClr val="065A82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351008" y="4892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ウェアハウスサイズはワンクリックで変更可能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サイズイメージ（小 → 大）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Services 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Snowflakeの「頭脳」にあたる管理レイヤー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31620" y="23317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8" name="Image 0" descr="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247802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認証・アクセス制御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ログイン管理、ロールベースの権限制御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8328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6260" y="23317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1" descr="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47802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クエリ最適化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実行計画の作成とパフォーマンス最適化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0900" y="23317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8" name="Image 2" descr="icons/lay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247802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メタデータ管理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テーブル定義・統計情報・クエリ履歴の保持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052560" y="205740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35540" y="233172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3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1844" y="247802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8972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セキュリティ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35440" y="3520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暗号化・監査・コンプライアンス対応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44348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全アカウント間で共有されるステートレスなサービス群。FoundationDBベースのメタデータストアが、ログインからクエリ実行までの全リクエストを統制する。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主要機能① データ管理の革新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ストレージの不変性が生む強力な機能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op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Zero-Copy Cloning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データベース・テーブル・スキーマを物理コピーなしに即座に複製。クローンは元データと独立して更新可能で、変更分のみ追加ストレージが発生する。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5029200"/>
            <a:ext cx="4526280" cy="9144"/>
          </a:xfrm>
          <a:prstGeom prst="rect">
            <a:avLst/>
          </a:prstGeom>
          <a:solidFill>
            <a:srgbClr val="DCE8F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166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用途：開発・検証環境の即時構築、本番データのテスト利用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8076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22199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03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Travel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446520" y="310896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過去の任意時点のデータ状態を参照・復元できる機能。誤ったDELETEやUPDATEからの復旧、変更前データとの比較に活用できる。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46520" y="5029200"/>
            <a:ext cx="4526280" cy="9144"/>
          </a:xfrm>
          <a:prstGeom prst="rect">
            <a:avLst/>
          </a:prstGeom>
          <a:solidFill>
            <a:srgbClr val="DC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6446520" y="51663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用途：誤操作からのデータ復旧、変更履歴の検証（保持期間はエディションにより最大90日）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主要機能② データ共有とコラボレーション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データを複製せずに安全に共有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"/>
            <a:ext cx="2286000" cy="320040"/>
          </a:xfrm>
          <a:prstGeom prst="roundRect">
            <a:avLst>
              <a:gd name="adj" fmla="val 4857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65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3317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提供元アカウント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(Provider)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9184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9A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114800" y="2103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icons/shar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2331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Snowflakeメタデータ層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（物理コピーなし）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85800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9A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7680960" y="21031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0" y="2331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80960" y="2971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利用先アカウント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(Consumer)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8640" y="40233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Sharingにより、データを物理的に複製・転送することなくリアルタイムで共有。受信側は常に最新データを参照でき、提供側のセキュリティポリシーがそのまま適用される。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84632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F4F9FC"/>
          </a:solidFill>
          <a:ln/>
        </p:spPr>
      </p:sp>
      <p:pic>
        <p:nvPicPr>
          <p:cNvPr id="19" name="Image 3" descr="icons/stor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484632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Marketplace：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サードパーティの外部データ（天候、金融指標等）をETLなしで自社環境に統合できるカタログ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主要機能③ 開発とAI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コードとAIをデータの近くで実行する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219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Snowpark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28800" y="2441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データの場所でロジックを実行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322783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3081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/ Scalaでデータ処理を記述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400507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385876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データを外部に出さずに変換・分析が可能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14400" y="47823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46360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Servicesで独自Dockerやモデルも実行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1" descr="icons/robo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221992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60920" y="20116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 AI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7360920" y="24414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SQLから直接呼び出せるAIレイヤー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46520" y="322783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308152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LLM推論・要約・感情分析などをSQL関数で実行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446520" y="400507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85876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外部API呼び出しやデータ移動が不要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46520" y="4782312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463600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Agentsによる自律的タスク実行にも対応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料金体系の基本的な考え方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「使った分だけ」の従量課金モデル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579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コンピュートコスト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2783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仮想ウェアハウスの稼働時間に応じて秒単位（最低60秒）で課金。クレジット消費量はウェアハウスサイズに比例する。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4709160"/>
            <a:ext cx="3063240" cy="9144"/>
          </a:xfrm>
          <a:prstGeom prst="rect">
            <a:avLst/>
          </a:prstGeom>
          <a:solidFill>
            <a:srgbClr val="DCE8F0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818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ポイント：自動停止設定でアイドル時間のコストを削減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70248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4568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5798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8848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ストレージコスト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498848" y="322783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圧縮後のデータ量に応じて課金。Time Travelやクローンによる追加データも対象となる。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498848" y="4709160"/>
            <a:ext cx="3063240" cy="9144"/>
          </a:xfrm>
          <a:prstGeom prst="rect">
            <a:avLst/>
          </a:prstGeom>
          <a:solidFill>
            <a:srgbClr val="DCE8F0"/>
          </a:solidFill>
          <a:ln/>
        </p:spPr>
      </p:sp>
      <p:sp>
        <p:nvSpPr>
          <p:cNvPr id="17" name="Text 13"/>
          <p:cNvSpPr/>
          <p:nvPr/>
        </p:nvSpPr>
        <p:spPr>
          <a:xfrm>
            <a:off x="4498848" y="4818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ポイント：不要なクローン・Time Travel保持期間の見直しでコスト最適化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991856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4F9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0" name="Image 2" descr="icons/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57984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0456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クラウドサービスコスト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20456" y="3227832"/>
            <a:ext cx="3063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無料枠（ウェアハウス利用量の概ね10%）を超えた分のみ課金される、補助的なコスト要素。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0456" y="4709160"/>
            <a:ext cx="3063240" cy="9144"/>
          </a:xfrm>
          <a:prstGeom prst="rect">
            <a:avLst/>
          </a:prstGeom>
          <a:solidFill>
            <a:srgbClr val="DCE8F0"/>
          </a:solidFill>
          <a:ln/>
        </p:spPr>
      </p:sp>
      <p:sp>
        <p:nvSpPr>
          <p:cNvPr id="24" name="Text 19"/>
          <p:cNvSpPr/>
          <p:nvPr/>
        </p:nvSpPr>
        <p:spPr>
          <a:xfrm>
            <a:off x="8220456" y="481888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ポイント：通常利用では無料枠内に収まることが多い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具体的な単価・プラン（Standard / Enterprise / Business Critical等）は商談・公式ドキュメントで最新情報をご確認ください。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Snowflakeが選ばれる理由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7" name="Image 0" descr="icons/lay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分離アーキテクチャ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350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/ Compute / Servicesの独立スケールで柔軟性と性能を両立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7830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icons/bo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488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運用負荷の軽減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23500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インフラ管理不要のフルマネージド、秒単位の従量課金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2" descr="icons/sh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安全なデータ共有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00200" y="40416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Zero-Copy CloningとSecure Data Sharingで複製レスな協働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80760" y="34747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3" descr="icons/robo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8404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AIへの拡張性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040880" y="404164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A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AIによりSQLからLLM・機械学習機能を直接活用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参考情報 /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より詳しく学ぶために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4F9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Snowflake公式ドキュメント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docs.snowflake.com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4F9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Snowflake公式サイト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www.snowflake.com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4F9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Quickstarts（ハンズオン）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quickstarts.snowflake.com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7863840" cy="685800"/>
          </a:xfrm>
          <a:prstGeom prst="roundRect">
            <a:avLst>
              <a:gd name="adj" fmla="val 8000"/>
            </a:avLst>
          </a:prstGeom>
          <a:solidFill>
            <a:srgbClr val="F4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97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 ドキュメント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2976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docs.snowflake.com/en/guides-overview-ai-features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0" y="1691640"/>
            <a:ext cx="2926080" cy="3291840"/>
          </a:xfrm>
          <a:prstGeom prst="roundRect">
            <a:avLst>
              <a:gd name="adj" fmla="val 3125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0" y="29260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ご質問・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ディスカッション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69680" y="2011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9AD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技術概要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技術概要</dc:title>
  <dc:subject>PptxGenJS Presentation</dc:subject>
  <dc:creator>Internal Tech Study Session</dc:creator>
  <cp:lastModifiedBy>Internal Tech Study Session</cp:lastModifiedBy>
  <cp:revision>1</cp:revision>
  <dcterms:created xsi:type="dcterms:W3CDTF">2026-06-20T19:36:43Z</dcterms:created>
  <dcterms:modified xsi:type="dcterms:W3CDTF">2026-06-20T19:36:43Z</dcterms:modified>
</cp:coreProperties>
</file>